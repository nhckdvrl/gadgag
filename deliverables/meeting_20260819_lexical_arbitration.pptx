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162E51"/>
          </a:solidFill>
          <a:ln>
            <a:solidFill>
              <a:srgbClr val="162E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1051560"/>
            <a:ext cx="109728" cy="4389120"/>
          </a:xfrm>
          <a:prstGeom prst="rect">
            <a:avLst/>
          </a:prstGeom>
          <a:solidFill>
            <a:srgbClr val="218B82"/>
          </a:solidFill>
          <a:ln>
            <a:solidFill>
              <a:srgbClr val="218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170432"/>
            <a:ext cx="7498079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62E51"/>
                </a:solidFill>
                <a:latin typeface="Noto Sans CJK JP"/>
              </a:rPr>
              <a:t>文脈と言語慣習が衝突するとき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1874519"/>
            <a:ext cx="7406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2A6F97"/>
                </a:solidFill>
                <a:latin typeface="Noto Sans CJK JP"/>
              </a:rPr>
              <a:t>多言語 LLM における語彙的仲裁の分解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578608"/>
            <a:ext cx="69494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64707E"/>
                </a:solidFill>
                <a:latin typeface="Noto Sans CJK JP"/>
              </a:rPr>
              <a:t>When Context and Language Disagree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3794760"/>
            <a:ext cx="7406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191C20"/>
                </a:solidFill>
                <a:latin typeface="Noto Sans CJK JP"/>
              </a:rPr>
              <a:t>今回：scientific question の明確化・先行研究境界・五種類の controls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5870448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4707E"/>
                </a:solidFill>
                <a:latin typeface="Noto Sans CJK JP"/>
              </a:rPr>
              <a:t>M1  向　｜　2026/08/19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162E51"/>
          </a:solidFill>
          <a:ln>
            <a:solidFill>
              <a:srgbClr val="162E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8138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62E51"/>
                </a:solidFill>
                <a:latin typeface="Noto Sans CJK JP"/>
              </a:rPr>
              <a:t>前回の観察から scientific question 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49640" y="6446520"/>
            <a:ext cx="274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4707E"/>
                </a:solidFill>
                <a:latin typeface="Noto Sans CJK JP"/>
              </a:rPr>
              <a:t>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143000"/>
            <a:ext cx="3794760" cy="4434840"/>
          </a:xfrm>
          <a:prstGeom prst="roundRect">
            <a:avLst/>
          </a:prstGeom>
          <a:solidFill>
            <a:srgbClr val="F0F4F8"/>
          </a:solidFill>
          <a:ln>
            <a:solidFill>
              <a:srgbClr val="F0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64707E"/>
                </a:solidFill>
                <a:latin typeface="Noto Sans CJK JP"/>
              </a:rPr>
              <a:t>前回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938528"/>
            <a:ext cx="31089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62E51"/>
                </a:solidFill>
                <a:latin typeface="Noto Sans CJK JP"/>
              </a:rPr>
              <a:t>誤答は二種類の failure を
混ぜていないか？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063240"/>
            <a:ext cx="30632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defRPr sz="1700">
                <a:solidFill>
                  <a:srgbClr val="191C20"/>
                </a:solidFill>
                <a:latin typeface="Noto Sans CJK JP"/>
              </a:defRPr>
            </a:pPr>
            <a:r>
              <a:t>context を利用しない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700">
                <a:solidFill>
                  <a:srgbClr val="191C20"/>
                </a:solidFill>
                <a:latin typeface="Noto Sans CJK JP"/>
              </a:defRPr>
            </a:pPr>
            <a:r>
              <a:t>正しい方向へ動くが最終的に誤る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1143000"/>
            <a:ext cx="411480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218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28032" y="1417320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218B82"/>
                </a:solidFill>
                <a:latin typeface="Noto Sans CJK JP"/>
              </a:rPr>
              <a:t>今回：So what?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28032" y="1920240"/>
            <a:ext cx="3401568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62E51"/>
                </a:solidFill>
                <a:latin typeface="Noto Sans CJK JP"/>
              </a:rPr>
              <a:t>cross-lingual lexical error は
どの計算段階で生じるのか？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2040" y="3063240"/>
            <a:ext cx="32918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defRPr sz="1800">
                <a:solidFill>
                  <a:srgbClr val="191C20"/>
                </a:solidFill>
                <a:latin typeface="Noto Sans CJK JP"/>
              </a:defRPr>
            </a:pPr>
            <a:r>
              <a:t>semantic-evidence extraction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800">
                <a:solidFill>
                  <a:srgbClr val="191C20"/>
                </a:solidFill>
                <a:latin typeface="Noto Sans CJK JP"/>
              </a:defRPr>
            </a:pPr>
            <a:r>
              <a:t>lexical decision / arbitration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2040" y="4773168"/>
            <a:ext cx="3246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B43D3D"/>
                </a:solidFill>
                <a:latin typeface="Noto Sans CJK JP"/>
              </a:rPr>
              <a:t>「FF が難しい」ではなく failure localization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162E51"/>
          </a:solidFill>
          <a:ln>
            <a:solidFill>
              <a:srgbClr val="162E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8138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62E51"/>
                </a:solidFill>
                <a:latin typeface="Noto Sans CJK JP"/>
              </a:rPr>
              <a:t>先行研究：既に問われたことを contribution にしない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49640" y="6446520"/>
            <a:ext cx="274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4707E"/>
                </a:solidFill>
                <a:latin typeface="Noto Sans CJK JP"/>
              </a:rPr>
              <a:t>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143000"/>
          <a:ext cx="809244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2331720"/>
                <a:gridCol w="2148840"/>
                <a:gridCol w="2514600"/>
              </a:tblGrid>
              <a:tr h="75438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Noto Sans CJK JP"/>
                        </a:defRPr>
                      </a:pPr>
                      <a:r>
                        <a:t>Work</a:t>
                      </a:r>
                    </a:p>
                  </a:txBody>
                  <a:tcPr marL="54864" marR="36576" marT="32004" marB="22860" anchor="ctr">
                    <a:solidFill>
                      <a:srgbClr val="162E5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Noto Sans CJK JP"/>
                        </a:defRPr>
                      </a:pPr>
                      <a:r>
                        <a:t>既に行ったこと</a:t>
                      </a:r>
                    </a:p>
                  </a:txBody>
                  <a:tcPr marL="54864" marR="36576" marT="32004" marB="22860" anchor="ctr">
                    <a:solidFill>
                      <a:srgbClr val="162E5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Noto Sans CJK JP"/>
                        </a:defRPr>
                      </a:pPr>
                      <a:r>
                        <a:t>claim 不可</a:t>
                      </a:r>
                    </a:p>
                  </a:txBody>
                  <a:tcPr marL="54864" marR="36576" marT="32004" marB="22860" anchor="ctr">
                    <a:solidFill>
                      <a:srgbClr val="162E5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Noto Sans CJK JP"/>
                        </a:defRPr>
                      </a:pPr>
                      <a:r>
                        <a:t>残る差分</a:t>
                      </a:r>
                    </a:p>
                  </a:txBody>
                  <a:tcPr marL="54864" marR="36576" marT="32004" marB="22860" anchor="ctr">
                    <a:solidFill>
                      <a:srgbClr val="162E51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91C20"/>
                          </a:solidFill>
                          <a:latin typeface="Noto Sans CJK JP"/>
                        </a:defRPr>
                      </a:pPr>
                      <a:r>
                        <a:t>Stingray</a:t>
                      </a:r>
                    </a:p>
                  </a:txBody>
                  <a:tcPr marL="54864" marR="36576" marT="32004" marB="22860"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91C20"/>
                          </a:solidFill>
                          <a:latin typeface="Noto Sans CJK JP"/>
                        </a:defRPr>
                      </a:pPr>
                      <a:r>
                        <a:t>FF/cognate・4 pairs・bias</a:t>
                      </a:r>
                    </a:p>
                  </a:txBody>
                  <a:tcPr marL="54864" marR="36576" marT="32004" marB="22860"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91C20"/>
                          </a:solidFill>
                          <a:latin typeface="Noto Sans CJK JP"/>
                        </a:defRPr>
                      </a:pPr>
                      <a:r>
                        <a:t>FF が難しい／多言語化</a:t>
                      </a:r>
                    </a:p>
                  </a:txBody>
                  <a:tcPr marL="54864" marR="36576" marT="32004" marB="22860"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91C20"/>
                          </a:solidFill>
                          <a:latin typeface="Noto Sans CJK JP"/>
                        </a:defRPr>
                      </a:pPr>
                      <a:r>
                        <a:t>Language×Sense の分離</a:t>
                      </a:r>
                    </a:p>
                  </a:txBody>
                  <a:tcPr marL="54864" marR="36576" marT="32004" marB="22860" anchor="ctr">
                    <a:solidFill>
                      <a:srgbClr val="F0F4F8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91C20"/>
                          </a:solidFill>
                          <a:latin typeface="Noto Sans CJK JP"/>
                        </a:defRPr>
                      </a:pPr>
                      <a:r>
                        <a:t>Tanwar</a:t>
                      </a:r>
                    </a:p>
                  </a:txBody>
                  <a:tcPr marL="54864" marR="36576" marT="32004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91C20"/>
                          </a:solidFill>
                          <a:latin typeface="Noto Sans CJK JP"/>
                        </a:defRPr>
                      </a:pPr>
                      <a:r>
                        <a:t>3 word types・context・incongruent</a:t>
                      </a:r>
                    </a:p>
                  </a:txBody>
                  <a:tcPr marL="54864" marR="36576" marT="32004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91C20"/>
                          </a:solidFill>
                          <a:latin typeface="Noto Sans CJK JP"/>
                        </a:defRPr>
                      </a:pPr>
                      <a:r>
                        <a:t>矛盾文／3 分類</a:t>
                      </a:r>
                    </a:p>
                  </a:txBody>
                  <a:tcPr marL="54864" marR="36576" marT="32004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91C20"/>
                          </a:solidFill>
                          <a:latin typeface="Noto Sans CJK JP"/>
                        </a:defRPr>
                      </a:pPr>
                      <a:r>
                        <a:t>stage-specific estimand</a:t>
                      </a:r>
                    </a:p>
                  </a:txBody>
                  <a:tcPr marL="54864" marR="36576" marT="32004" marB="22860" anchor="ctr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91C20"/>
                          </a:solidFill>
                          <a:latin typeface="Noto Sans CJK JP"/>
                        </a:defRPr>
                      </a:pPr>
                      <a:r>
                        <a:t>Doppel</a:t>
                      </a:r>
                    </a:p>
                  </a:txBody>
                  <a:tcPr marL="54864" marR="36576" marT="32004" marB="22860"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91C20"/>
                          </a:solidFill>
                          <a:latin typeface="Noto Sans CJK JP"/>
                        </a:defRPr>
                      </a:pPr>
                      <a:r>
                        <a:t>JC 3 tasks・shortcut・POS</a:t>
                      </a:r>
                    </a:p>
                  </a:txBody>
                  <a:tcPr marL="54864" marR="36576" marT="32004" marB="22860"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91C20"/>
                          </a:solidFill>
                          <a:latin typeface="Noto Sans CJK JP"/>
                        </a:defRPr>
                      </a:pPr>
                      <a:r>
                        <a:t>JC error analysis</a:t>
                      </a:r>
                    </a:p>
                  </a:txBody>
                  <a:tcPr marL="54864" marR="36576" marT="32004" marB="22860"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91C20"/>
                          </a:solidFill>
                          <a:latin typeface="Noto Sans CJK JP"/>
                        </a:defRPr>
                      </a:pPr>
                      <a:r>
                        <a:t>誤答内の context evidence</a:t>
                      </a:r>
                    </a:p>
                  </a:txBody>
                  <a:tcPr marL="54864" marR="36576" marT="32004" marB="22860" anchor="ctr">
                    <a:solidFill>
                      <a:srgbClr val="F0F4F8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91C20"/>
                          </a:solidFill>
                          <a:latin typeface="Noto Sans CJK JP"/>
                        </a:defRPr>
                      </a:pPr>
                      <a:r>
                        <a:t>RoDEval</a:t>
                      </a:r>
                    </a:p>
                  </a:txBody>
                  <a:tcPr marL="54864" marR="36576" marT="32004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91C20"/>
                          </a:solidFill>
                          <a:latin typeface="Noto Sans CJK JP"/>
                        </a:defRPr>
                      </a:pPr>
                      <a:r>
                        <a:t>WSD knowledge/bias/reliability</a:t>
                      </a:r>
                    </a:p>
                  </a:txBody>
                  <a:tcPr marL="54864" marR="36576" marT="32004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91C20"/>
                          </a:solidFill>
                          <a:latin typeface="Noto Sans CJK JP"/>
                        </a:defRPr>
                      </a:pPr>
                      <a:r>
                        <a:t>accuracy 不十分</a:t>
                      </a:r>
                    </a:p>
                  </a:txBody>
                  <a:tcPr marL="54864" marR="36576" marT="32004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91C20"/>
                          </a:solidFill>
                          <a:latin typeface="Noto Sans CJK JP"/>
                        </a:defRPr>
                      </a:pPr>
                      <a:r>
                        <a:t>exact-form conflict 分解</a:t>
                      </a:r>
                    </a:p>
                  </a:txBody>
                  <a:tcPr marL="54864" marR="36576" marT="32004" marB="22860" anchor="ctr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91C20"/>
                          </a:solidFill>
                          <a:latin typeface="Noto Sans CJK JP"/>
                        </a:defRPr>
                      </a:pPr>
                      <a:r>
                        <a:t>Dumas / Oh</a:t>
                      </a:r>
                    </a:p>
                  </a:txBody>
                  <a:tcPr marL="54864" marR="36576" marT="32004" marB="22860"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91C20"/>
                          </a:solidFill>
                          <a:latin typeface="Noto Sans CJK JP"/>
                        </a:defRPr>
                      </a:pPr>
                      <a:r>
                        <a:t>patching・context/lexical competition</a:t>
                      </a:r>
                    </a:p>
                  </a:txBody>
                  <a:tcPr marL="54864" marR="36576" marT="32004" marB="22860"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91C20"/>
                          </a:solidFill>
                          <a:latin typeface="Noto Sans CJK JP"/>
                        </a:defRPr>
                      </a:pPr>
                      <a:r>
                        <a:t>表現分離／競争の初研究</a:t>
                      </a:r>
                    </a:p>
                  </a:txBody>
                  <a:tcPr marL="54864" marR="36576" marT="32004" marB="22860"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91C20"/>
                          </a:solidFill>
                          <a:latin typeface="Noto Sans CJK JP"/>
                        </a:defRPr>
                      </a:pPr>
                      <a:r>
                        <a:t>cross-lingual collision</a:t>
                      </a:r>
                    </a:p>
                  </a:txBody>
                  <a:tcPr marL="54864" marR="36576" marT="32004" marB="22860" anchor="ctr"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11480" y="6327648"/>
            <a:ext cx="78638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4707E"/>
                </a:solidFill>
                <a:latin typeface="Noto Sans CJK JP"/>
              </a:rPr>
              <a:t>Cahyawijaya+ 2025; Tanwar+ arXiv:2501.09127; Kitamura+ 2025; Zhang+ 2025; Dumas+ 2025; Oh+ 2026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162E51"/>
          </a:solidFill>
          <a:ln>
            <a:solidFill>
              <a:srgbClr val="162E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8138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62E51"/>
                </a:solidFill>
                <a:latin typeface="Noto Sans CJK JP"/>
              </a:rPr>
              <a:t>Main RQ：抽出失敗か，仲裁失敗か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49640" y="6446520"/>
            <a:ext cx="274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4707E"/>
                </a:solidFill>
                <a:latin typeface="Noto Sans CJK JP"/>
              </a:rPr>
              <a:t>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43000"/>
            <a:ext cx="8046720" cy="1280160"/>
          </a:xfrm>
          <a:prstGeom prst="roundRect">
            <a:avLst/>
          </a:prstGeom>
          <a:solidFill>
            <a:srgbClr val="F0F4F8"/>
          </a:solidFill>
          <a:ln>
            <a:solidFill>
              <a:srgbClr val="F0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26464"/>
            <a:ext cx="736092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>
                <a:solidFill>
                  <a:srgbClr val="162E51"/>
                </a:solidFill>
                <a:latin typeface="Noto Sans CJK JP"/>
              </a:rPr>
              <a:t>文脈が支持する語義と言語慣習が支持する語義が衝突するとき，
誤りは文脈語義の抽出段階か，抽出後の最終語義選択か？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880360"/>
            <a:ext cx="233172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2A6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108960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A6F97"/>
                </a:solidFill>
                <a:latin typeface="Noto Sans CJK JP"/>
              </a:rPr>
              <a:t>RQ1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611880"/>
            <a:ext cx="19659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162E51"/>
                </a:solidFill>
                <a:latin typeface="Noto Sans CJK JP"/>
              </a:rPr>
              <a:t>Evidence extraction
Language 固定・Sense のみ変更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10128" y="2880360"/>
            <a:ext cx="233172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218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93008" y="3108960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18B82"/>
                </a:solidFill>
                <a:latin typeface="Noto Sans CJK JP"/>
              </a:rPr>
              <a:t>RQ2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93008" y="3611880"/>
            <a:ext cx="19659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162E51"/>
                </a:solidFill>
                <a:latin typeface="Noto Sans CJK JP"/>
              </a:rPr>
              <a:t>Collision specificity
五種類の matched controls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0" y="2880360"/>
            <a:ext cx="233172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59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0" y="3108960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D59D37"/>
                </a:solidFill>
                <a:latin typeface="Noto Sans CJK JP"/>
              </a:rPr>
              <a:t>RQ3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3611880"/>
            <a:ext cx="19659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162E51"/>
                </a:solidFill>
                <a:latin typeface="Noto Sans CJK JP"/>
              </a:rPr>
              <a:t>Arbitration mechanism
target residual / MLP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5394960"/>
            <a:ext cx="6583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B43D3D"/>
                </a:solidFill>
                <a:latin typeface="Noto Sans CJK JP"/>
              </a:rPr>
              <a:t>B = behavioral backbone　→　A = conditional mechanistic explanation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162E51"/>
          </a:solidFill>
          <a:ln>
            <a:solidFill>
              <a:srgbClr val="162E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8138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62E51"/>
                </a:solidFill>
                <a:latin typeface="Noto Sans CJK JP"/>
              </a:rPr>
              <a:t>仮説：正しい evidence があっても答えは誤り得る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49640" y="6446520"/>
            <a:ext cx="274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4707E"/>
                </a:solidFill>
                <a:latin typeface="Noto Sans CJK JP"/>
              </a:rPr>
              <a:t>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2057400"/>
            <a:ext cx="17373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2A6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286000"/>
            <a:ext cx="1554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2A6F97"/>
                </a:solidFill>
                <a:latin typeface="Noto Sans CJK JP"/>
              </a:rPr>
              <a:t>Local semantic context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06040" y="2057400"/>
            <a:ext cx="17373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218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97480" y="2286000"/>
            <a:ext cx="1554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218B82"/>
                </a:solidFill>
                <a:latin typeface="Noto Sans CJK JP"/>
              </a:rPr>
              <a:t>Target representation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00600" y="2057400"/>
            <a:ext cx="17373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59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92040" y="2286000"/>
            <a:ext cx="1554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D59D37"/>
                </a:solidFill>
                <a:latin typeface="Noto Sans CJK JP"/>
              </a:rPr>
              <a:t>Lexical arbitration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95160" y="2057400"/>
            <a:ext cx="17373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162E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86600" y="2286000"/>
            <a:ext cx="1554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162E51"/>
                </a:solidFill>
                <a:latin typeface="Noto Sans CJK JP"/>
              </a:rPr>
              <a:t>Final choice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48840" y="2240280"/>
            <a:ext cx="411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>
                <a:solidFill>
                  <a:srgbClr val="64707E"/>
                </a:solidFill>
                <a:latin typeface="Noto Sans CJK JP"/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2240280"/>
            <a:ext cx="411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>
                <a:solidFill>
                  <a:srgbClr val="64707E"/>
                </a:solidFill>
                <a:latin typeface="Noto Sans CJK JP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2240280"/>
            <a:ext cx="411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>
                <a:solidFill>
                  <a:srgbClr val="64707E"/>
                </a:solidFill>
                <a:latin typeface="Noto Sans CJK JP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53712" y="1078992"/>
            <a:ext cx="2212848" cy="566928"/>
          </a:xfrm>
          <a:prstGeom prst="roundRect">
            <a:avLst/>
          </a:prstGeom>
          <a:solidFill>
            <a:srgbClr val="F0F4F8"/>
          </a:solidFill>
          <a:ln>
            <a:solidFill>
              <a:srgbClr val="B43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63440" y="1225296"/>
            <a:ext cx="199339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B43D3D"/>
                </a:solidFill>
                <a:latin typeface="Noto Sans CJK JP"/>
              </a:rPr>
              <a:t>Language convention / shared form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1618488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B43D3D"/>
                </a:solidFill>
                <a:latin typeface="Noto Sans CJK JP"/>
              </a:rPr>
              <a:t>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379476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18B82"/>
                </a:solidFill>
                <a:latin typeface="Noto Sans CJK JP"/>
              </a:rPr>
              <a:t>pilot が示唆する paradox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224528"/>
            <a:ext cx="3063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62E51"/>
                </a:solidFill>
                <a:latin typeface="Noto Sans CJK JP"/>
              </a:rPr>
              <a:t>context evidence は正方向
しかし decision boundary を越えない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9160" y="3794760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D59D37"/>
                </a:solidFill>
                <a:latin typeface="Noto Sans CJK JP"/>
              </a:rPr>
              <a:t>研究価値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09160" y="4224528"/>
            <a:ext cx="35204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defRPr sz="1700">
                <a:solidFill>
                  <a:srgbClr val="191C20"/>
                </a:solidFill>
                <a:latin typeface="Noto Sans CJK JP"/>
              </a:defRPr>
            </a:pPr>
            <a:r>
              <a:t>failure diagnosis が変わる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700">
                <a:solidFill>
                  <a:srgbClr val="191C20"/>
                </a:solidFill>
                <a:latin typeface="Noto Sans CJK JP"/>
              </a:defRPr>
            </a:pPr>
            <a:r>
              <a:t>一般 WSD と collision を分ける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700">
                <a:solidFill>
                  <a:srgbClr val="191C20"/>
                </a:solidFill>
                <a:latin typeface="Noto Sans CJK JP"/>
              </a:defRPr>
            </a:pPr>
            <a:r>
              <a:t>remedy の対象段階が変わる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162E51"/>
          </a:solidFill>
          <a:ln>
            <a:solidFill>
              <a:srgbClr val="162E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8138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62E51"/>
                </a:solidFill>
                <a:latin typeface="Noto Sans CJK JP"/>
              </a:rPr>
              <a:t>RQ1：Language × Sense の完全 2×2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49640" y="6446520"/>
            <a:ext cx="274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4707E"/>
                </a:solidFill>
                <a:latin typeface="Noto Sans CJK JP"/>
              </a:rPr>
              <a:t>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298448"/>
          <a:ext cx="534924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1965960"/>
                <a:gridCol w="1965960"/>
              </a:tblGrid>
              <a:tr h="670560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Noto Sans CJK JP"/>
                        </a:defRPr>
                      </a:pPr>
                    </a:p>
                  </a:txBody>
                  <a:tcPr marL="54864" marR="36576" marT="32004" marB="22860" anchor="ctr">
                    <a:solidFill>
                      <a:srgbClr val="162E5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Noto Sans CJK JP"/>
                        </a:defRPr>
                      </a:pPr>
                      <a:r>
                        <a:t>Sense 1 context</a:t>
                      </a:r>
                    </a:p>
                  </a:txBody>
                  <a:tcPr marL="54864" marR="36576" marT="32004" marB="22860" anchor="ctr">
                    <a:solidFill>
                      <a:srgbClr val="162E5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Noto Sans CJK JP"/>
                        </a:defRPr>
                      </a:pPr>
                      <a:r>
                        <a:t>Sense 2 context</a:t>
                      </a:r>
                    </a:p>
                  </a:txBody>
                  <a:tcPr marL="54864" marR="36576" marT="32004" marB="22860" anchor="ctr">
                    <a:solidFill>
                      <a:srgbClr val="162E51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191C20"/>
                          </a:solidFill>
                          <a:latin typeface="Noto Sans CJK JP"/>
                        </a:defRPr>
                      </a:pPr>
                      <a:r>
                        <a:t>Language 1</a:t>
                      </a:r>
                    </a:p>
                  </a:txBody>
                  <a:tcPr marL="54864" marR="36576" marT="32004" marB="22860"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191C20"/>
                          </a:solidFill>
                          <a:latin typeface="Noto Sans CJK JP"/>
                        </a:defRPr>
                      </a:pPr>
                      <a:r>
                        <a:t>L1 × S1</a:t>
                      </a:r>
                    </a:p>
                  </a:txBody>
                  <a:tcPr marL="54864" marR="36576" marT="32004" marB="22860"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191C20"/>
                          </a:solidFill>
                          <a:latin typeface="Noto Sans CJK JP"/>
                        </a:defRPr>
                      </a:pPr>
                      <a:r>
                        <a:t>L1 × S2</a:t>
                      </a:r>
                    </a:p>
                  </a:txBody>
                  <a:tcPr marL="54864" marR="36576" marT="32004" marB="22860" anchor="ctr">
                    <a:solidFill>
                      <a:srgbClr val="F0F4F8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191C20"/>
                          </a:solidFill>
                          <a:latin typeface="Noto Sans CJK JP"/>
                        </a:defRPr>
                      </a:pPr>
                      <a:r>
                        <a:t>Language 2</a:t>
                      </a:r>
                    </a:p>
                  </a:txBody>
                  <a:tcPr marL="54864" marR="36576" marT="32004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191C20"/>
                          </a:solidFill>
                          <a:latin typeface="Noto Sans CJK JP"/>
                        </a:defRPr>
                      </a:pPr>
                      <a:r>
                        <a:t>L2 × S1</a:t>
                      </a:r>
                    </a:p>
                  </a:txBody>
                  <a:tcPr marL="54864" marR="36576" marT="32004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191C20"/>
                          </a:solidFill>
                          <a:latin typeface="Noto Sans CJK JP"/>
                        </a:defRPr>
                      </a:pPr>
                      <a:r>
                        <a:t>L2 × S2</a:t>
                      </a:r>
                    </a:p>
                  </a:txBody>
                  <a:tcPr marL="54864" marR="36576" marT="32004" marB="2286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715000" y="1261872"/>
            <a:ext cx="2057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A6F97"/>
                </a:solidFill>
                <a:latin typeface="Noto Sans CJK JP"/>
              </a:rPr>
              <a:t>Semantic effect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1737360"/>
            <a:ext cx="22402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162E51"/>
                </a:solidFill>
                <a:latin typeface="Noto Sans CJK JP"/>
              </a:rPr>
              <a:t>同じ言語のまま
S1 → S2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0" y="2852928"/>
            <a:ext cx="2057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B43D3D"/>
                </a:solidFill>
                <a:latin typeface="Noto Sans CJK JP"/>
              </a:rPr>
              <a:t>Language effect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0" y="3337560"/>
            <a:ext cx="22402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162E51"/>
                </a:solidFill>
                <a:latin typeface="Noto Sans CJK JP"/>
              </a:rPr>
              <a:t>同じ sense のまま
L1 → L2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3886200"/>
            <a:ext cx="44805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defRPr sz="1600">
                <a:solidFill>
                  <a:srgbClr val="191C20"/>
                </a:solidFill>
                <a:latin typeface="Noto Sans CJK JP"/>
              </a:defRPr>
            </a:pPr>
            <a:r>
              <a:t>exact same form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600">
                <a:solidFill>
                  <a:srgbClr val="191C20"/>
                </a:solidFill>
                <a:latin typeface="Noto Sans CJK JP"/>
              </a:defRPr>
            </a:pPr>
            <a:r>
              <a:t>target mask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600">
                <a:solidFill>
                  <a:srgbClr val="191C20"/>
                </a:solidFill>
                <a:latin typeface="Noto Sans CJK JP"/>
              </a:defRPr>
            </a:pPr>
            <a:r>
              <a:t>language-only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600">
                <a:solidFill>
                  <a:srgbClr val="191C20"/>
                </a:solidFill>
                <a:latin typeface="Noto Sans CJK JP"/>
              </a:defRPr>
            </a:pPr>
            <a:r>
              <a:t>marker-matched unrelated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600">
                <a:solidFill>
                  <a:srgbClr val="191C20"/>
                </a:solidFill>
                <a:latin typeface="Noto Sans CJK JP"/>
              </a:defRPr>
            </a:pPr>
            <a:r>
              <a:t>repeated gloss / natural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327648"/>
            <a:ext cx="78638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4707E"/>
                </a:solidFill>
                <a:latin typeface="Noto Sans CJK JP"/>
              </a:rPr>
              <a:t>Stingray の既存四格を再利用。ただし estimand と controls を事前固定。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162E51"/>
          </a:solidFill>
          <a:ln>
            <a:solidFill>
              <a:srgbClr val="162E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8138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62E51"/>
                </a:solidFill>
                <a:latin typeface="Noto Sans CJK JP"/>
              </a:rPr>
              <a:t>現在の behavioral evidence：誤答内部に context signal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49640" y="6446520"/>
            <a:ext cx="274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4707E"/>
                </a:solidFill>
                <a:latin typeface="Noto Sans CJK JP"/>
              </a:rPr>
              <a:t>7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188720"/>
          <a:ext cx="425196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1417320"/>
              </a:tblGrid>
              <a:tr h="704088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Noto Sans CJK JP"/>
                        </a:defRPr>
                      </a:pPr>
                      <a:r>
                        <a:t>Condition</a:t>
                      </a:r>
                    </a:p>
                  </a:txBody>
                  <a:tcPr marL="54864" marR="36576" marT="32004" marB="22860" anchor="ctr">
                    <a:solidFill>
                      <a:srgbClr val="162E5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Noto Sans CJK JP"/>
                        </a:defRPr>
                      </a:pPr>
                      <a:r>
                        <a:t>CI &gt; 0</a:t>
                      </a:r>
                    </a:p>
                  </a:txBody>
                  <a:tcPr marL="54864" marR="36576" marT="32004" marB="22860" anchor="ctr">
                    <a:solidFill>
                      <a:srgbClr val="162E51"/>
                    </a:solidFill>
                  </a:tcPr>
                </a:tc>
              </a:tr>
              <a:tr h="704088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91C20"/>
                          </a:solidFill>
                          <a:latin typeface="Noto Sans CJK JP"/>
                        </a:defRPr>
                      </a:pPr>
                      <a:r>
                        <a:t>Full context</a:t>
                      </a:r>
                    </a:p>
                  </a:txBody>
                  <a:tcPr marL="54864" marR="36576" marT="32004" marB="22860"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91C20"/>
                          </a:solidFill>
                          <a:latin typeface="Noto Sans CJK JP"/>
                        </a:defRPr>
                      </a:pPr>
                      <a:r>
                        <a:t>92 / 96</a:t>
                      </a:r>
                    </a:p>
                  </a:txBody>
                  <a:tcPr marL="54864" marR="36576" marT="32004" marB="22860" anchor="ctr">
                    <a:solidFill>
                      <a:srgbClr val="F0F4F8"/>
                    </a:solidFill>
                  </a:tcPr>
                </a:tc>
              </a:tr>
              <a:tr h="704088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91C20"/>
                          </a:solidFill>
                          <a:latin typeface="Noto Sans CJK JP"/>
                        </a:defRPr>
                      </a:pPr>
                      <a:r>
                        <a:t>Target masked</a:t>
                      </a:r>
                    </a:p>
                  </a:txBody>
                  <a:tcPr marL="54864" marR="36576" marT="32004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91C20"/>
                          </a:solidFill>
                          <a:latin typeface="Noto Sans CJK JP"/>
                        </a:defRPr>
                      </a:pPr>
                      <a:r>
                        <a:t>91 / 96</a:t>
                      </a:r>
                    </a:p>
                  </a:txBody>
                  <a:tcPr marL="54864" marR="36576" marT="32004" marB="22860" anchor="ctr">
                    <a:solidFill>
                      <a:srgbClr val="FFFFFF"/>
                    </a:solidFill>
                  </a:tcPr>
                </a:tc>
              </a:tr>
              <a:tr h="704088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91C20"/>
                          </a:solidFill>
                          <a:latin typeface="Noto Sans CJK JP"/>
                        </a:defRPr>
                      </a:pPr>
                      <a:r>
                        <a:t>Language only</a:t>
                      </a:r>
                    </a:p>
                  </a:txBody>
                  <a:tcPr marL="54864" marR="36576" marT="32004" marB="22860"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91C20"/>
                          </a:solidFill>
                          <a:latin typeface="Noto Sans CJK JP"/>
                        </a:defRPr>
                      </a:pPr>
                      <a:r>
                        <a:t>4 positive / 2 negative</a:t>
                      </a:r>
                    </a:p>
                  </a:txBody>
                  <a:tcPr marL="54864" marR="36576" marT="32004" marB="22860" anchor="ctr">
                    <a:solidFill>
                      <a:srgbClr val="F0F4F8"/>
                    </a:solidFill>
                  </a:tcPr>
                </a:tc>
              </a:tr>
              <a:tr h="704088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91C20"/>
                          </a:solidFill>
                          <a:latin typeface="Noto Sans CJK JP"/>
                        </a:defRPr>
                      </a:pPr>
                      <a:r>
                        <a:t>Matched unrelated</a:t>
                      </a:r>
                    </a:p>
                  </a:txBody>
                  <a:tcPr marL="54864" marR="36576" marT="32004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91C20"/>
                          </a:solidFill>
                          <a:latin typeface="Noto Sans CJK JP"/>
                        </a:defRPr>
                      </a:pPr>
                      <a:r>
                        <a:t>1 positive / 3 negative</a:t>
                      </a:r>
                    </a:p>
                  </a:txBody>
                  <a:tcPr marL="54864" marR="36576" marT="32004" marB="2286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074920" y="1188720"/>
            <a:ext cx="3520440" cy="3520440"/>
          </a:xfrm>
          <a:prstGeom prst="roundRect">
            <a:avLst/>
          </a:prstGeom>
          <a:solidFill>
            <a:srgbClr val="F0F4F8"/>
          </a:solidFill>
          <a:ln>
            <a:solidFill>
              <a:srgbClr val="F0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94960" y="1481328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218B82"/>
                </a:solidFill>
                <a:latin typeface="Noto Sans CJK JP"/>
              </a:rPr>
              <a:t>Generality gates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76672" y="1993392"/>
            <a:ext cx="2743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defRPr sz="1700">
                <a:solidFill>
                  <a:srgbClr val="191C20"/>
                </a:solidFill>
                <a:latin typeface="Noto Sans CJK JP"/>
              </a:defRPr>
            </a:pPr>
            <a:r>
              <a:t>official chat: full 48/48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700">
                <a:solidFill>
                  <a:srgbClr val="191C20"/>
                </a:solidFill>
                <a:latin typeface="Noto Sans CJK JP"/>
              </a:defRPr>
            </a:pPr>
            <a:r>
              <a:t>natural masked−unrelated: 82/96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700">
                <a:solidFill>
                  <a:srgbClr val="191C20"/>
                </a:solidFill>
                <a:latin typeface="Noto Sans CJK JP"/>
              </a:defRPr>
            </a:pPr>
            <a:r>
              <a:t>ID–MS / ID–TL: 48/48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700">
                <a:solidFill>
                  <a:srgbClr val="191C20"/>
                </a:solidFill>
                <a:latin typeface="Noto Sans CJK JP"/>
              </a:defRPr>
            </a:pPr>
            <a:r>
              <a:t>Doppel natural: 4/4 models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892040"/>
            <a:ext cx="786384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B43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5020056"/>
            <a:ext cx="7479792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B43D3D"/>
                </a:solidFill>
                <a:latin typeface="Noto Sans CJK JP"/>
              </a:rPr>
              <a:t>Correct semantic evidence can be present without yielding
the correct lexical decision.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327648"/>
            <a:ext cx="78638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4707E"/>
                </a:solidFill>
                <a:latin typeface="Noto Sans CJK JP"/>
              </a:rPr>
              <a:t>96 cells は独立反復ではなく protocol-robustness cells。主解析は item-level hierarchical / bootstrap。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162E51"/>
          </a:solidFill>
          <a:ln>
            <a:solidFill>
              <a:srgbClr val="162E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8138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62E51"/>
                </a:solidFill>
                <a:latin typeface="Noto Sans CJK JP"/>
              </a:rPr>
              <a:t>RQ2：五種類の controls（novelty ではなく identification）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49640" y="6446520"/>
            <a:ext cx="274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4707E"/>
                </a:solidFill>
                <a:latin typeface="Noto Sans CJK JP"/>
              </a:rPr>
              <a:t>8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38912" y="1115568"/>
          <a:ext cx="795528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554480"/>
                <a:gridCol w="1600200"/>
                <a:gridCol w="2788920"/>
              </a:tblGrid>
              <a:tr h="71628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Noto Sans CJK JP"/>
                        </a:defRPr>
                      </a:pPr>
                      <a:r>
                        <a:t>Type</a:t>
                      </a:r>
                    </a:p>
                  </a:txBody>
                  <a:tcPr marL="54864" marR="36576" marT="32004" marB="22860" anchor="ctr">
                    <a:solidFill>
                      <a:srgbClr val="162E5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Noto Sans CJK JP"/>
                        </a:defRPr>
                      </a:pPr>
                      <a:r>
                        <a:t>Form</a:t>
                      </a:r>
                    </a:p>
                  </a:txBody>
                  <a:tcPr marL="54864" marR="36576" marT="32004" marB="22860" anchor="ctr">
                    <a:solidFill>
                      <a:srgbClr val="162E5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Noto Sans CJK JP"/>
                        </a:defRPr>
                      </a:pPr>
                      <a:r>
                        <a:t>Semantics</a:t>
                      </a:r>
                    </a:p>
                  </a:txBody>
                  <a:tcPr marL="54864" marR="36576" marT="32004" marB="22860" anchor="ctr">
                    <a:solidFill>
                      <a:srgbClr val="162E5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Noto Sans CJK JP"/>
                        </a:defRPr>
                      </a:pPr>
                      <a:r>
                        <a:t>役割</a:t>
                      </a:r>
                    </a:p>
                  </a:txBody>
                  <a:tcPr marL="54864" marR="36576" marT="32004" marB="22860" anchor="ctr">
                    <a:solidFill>
                      <a:srgbClr val="162E51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91C20"/>
                          </a:solidFill>
                          <a:latin typeface="Noto Sans CJK JP"/>
                        </a:defRPr>
                      </a:pPr>
                      <a:r>
                        <a:t>False friend</a:t>
                      </a:r>
                    </a:p>
                  </a:txBody>
                  <a:tcPr marL="54864" marR="36576" marT="32004" marB="22860"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91C20"/>
                          </a:solidFill>
                          <a:latin typeface="Noto Sans CJK JP"/>
                        </a:defRPr>
                      </a:pPr>
                      <a:r>
                        <a:t>same exact</a:t>
                      </a:r>
                    </a:p>
                  </a:txBody>
                  <a:tcPr marL="54864" marR="36576" marT="32004" marB="22860"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91C20"/>
                          </a:solidFill>
                          <a:latin typeface="Noto Sans CJK JP"/>
                        </a:defRPr>
                      </a:pPr>
                      <a:r>
                        <a:t>different</a:t>
                      </a:r>
                    </a:p>
                  </a:txBody>
                  <a:tcPr marL="54864" marR="36576" marT="32004" marB="22860"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91C20"/>
                          </a:solidFill>
                          <a:latin typeface="Noto Sans CJK JP"/>
                        </a:defRPr>
                      </a:pPr>
                      <a:r>
                        <a:t>target conflict</a:t>
                      </a:r>
                    </a:p>
                  </a:txBody>
                  <a:tcPr marL="54864" marR="36576" marT="32004" marB="22860" anchor="ctr">
                    <a:solidFill>
                      <a:srgbClr val="F0F4F8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91C20"/>
                          </a:solidFill>
                          <a:latin typeface="Noto Sans CJK JP"/>
                        </a:defRPr>
                      </a:pPr>
                      <a:r>
                        <a:t>True friend</a:t>
                      </a:r>
                    </a:p>
                  </a:txBody>
                  <a:tcPr marL="54864" marR="36576" marT="32004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91C20"/>
                          </a:solidFill>
                          <a:latin typeface="Noto Sans CJK JP"/>
                        </a:defRPr>
                      </a:pPr>
                      <a:r>
                        <a:t>same exact</a:t>
                      </a:r>
                    </a:p>
                  </a:txBody>
                  <a:tcPr marL="54864" marR="36576" marT="32004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91C20"/>
                          </a:solidFill>
                          <a:latin typeface="Noto Sans CJK JP"/>
                        </a:defRPr>
                      </a:pPr>
                      <a:r>
                        <a:t>same</a:t>
                      </a:r>
                    </a:p>
                  </a:txBody>
                  <a:tcPr marL="54864" marR="36576" marT="32004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91C20"/>
                          </a:solidFill>
                          <a:latin typeface="Noto Sans CJK JP"/>
                        </a:defRPr>
                      </a:pPr>
                      <a:r>
                        <a:t>shared-form baseline</a:t>
                      </a:r>
                    </a:p>
                  </a:txBody>
                  <a:tcPr marL="54864" marR="36576" marT="32004" marB="22860" anchor="ctr">
                    <a:solidFill>
                      <a:srgbClr val="FFFFFF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91C20"/>
                          </a:solidFill>
                          <a:latin typeface="Noto Sans CJK JP"/>
                        </a:defRPr>
                      </a:pPr>
                      <a:r>
                        <a:t>Language-specific</a:t>
                      </a:r>
                    </a:p>
                  </a:txBody>
                  <a:tcPr marL="54864" marR="36576" marT="32004" marB="22860"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91C20"/>
                          </a:solidFill>
                          <a:latin typeface="Noto Sans CJK JP"/>
                        </a:defRPr>
                      </a:pPr>
                      <a:r>
                        <a:t>one language only</a:t>
                      </a:r>
                    </a:p>
                  </a:txBody>
                  <a:tcPr marL="54864" marR="36576" marT="32004" marB="22860"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91C20"/>
                          </a:solidFill>
                          <a:latin typeface="Noto Sans CJK JP"/>
                        </a:defRPr>
                      </a:pPr>
                      <a:r>
                        <a:t>—</a:t>
                      </a:r>
                    </a:p>
                  </a:txBody>
                  <a:tcPr marL="54864" marR="36576" marT="32004" marB="22860"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91C20"/>
                          </a:solidFill>
                          <a:latin typeface="Noto Sans CJK JP"/>
                        </a:defRPr>
                      </a:pPr>
                      <a:r>
                        <a:t>ordinary lexical processing</a:t>
                      </a:r>
                    </a:p>
                  </a:txBody>
                  <a:tcPr marL="54864" marR="36576" marT="32004" marB="22860" anchor="ctr">
                    <a:solidFill>
                      <a:srgbClr val="F0F4F8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91C20"/>
                          </a:solidFill>
                          <a:latin typeface="Noto Sans CJK JP"/>
                        </a:defRPr>
                      </a:pPr>
                      <a:r>
                        <a:t>Different-form translation</a:t>
                      </a:r>
                    </a:p>
                  </a:txBody>
                  <a:tcPr marL="54864" marR="36576" marT="32004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91C20"/>
                          </a:solidFill>
                          <a:latin typeface="Noto Sans CJK JP"/>
                        </a:defRPr>
                      </a:pPr>
                      <a:r>
                        <a:t>different</a:t>
                      </a:r>
                    </a:p>
                  </a:txBody>
                  <a:tcPr marL="54864" marR="36576" marT="32004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91C20"/>
                          </a:solidFill>
                          <a:latin typeface="Noto Sans CJK JP"/>
                        </a:defRPr>
                      </a:pPr>
                      <a:r>
                        <a:t>same</a:t>
                      </a:r>
                    </a:p>
                  </a:txBody>
                  <a:tcPr marL="54864" marR="36576" marT="32004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91C20"/>
                          </a:solidFill>
                          <a:latin typeface="Noto Sans CJK JP"/>
                        </a:defRPr>
                      </a:pPr>
                      <a:r>
                        <a:t>no form collision</a:t>
                      </a:r>
                    </a:p>
                  </a:txBody>
                  <a:tcPr marL="54864" marR="36576" marT="32004" marB="22860" anchor="ctr">
                    <a:solidFill>
                      <a:srgbClr val="FFFFFF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91C20"/>
                          </a:solidFill>
                          <a:latin typeface="Noto Sans CJK JP"/>
                        </a:defRPr>
                      </a:pPr>
                      <a:r>
                        <a:t>Monolingual polysemy</a:t>
                      </a:r>
                    </a:p>
                  </a:txBody>
                  <a:tcPr marL="54864" marR="36576" marT="32004" marB="22860"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91C20"/>
                          </a:solidFill>
                          <a:latin typeface="Noto Sans CJK JP"/>
                        </a:defRPr>
                      </a:pPr>
                      <a:r>
                        <a:t>same / one language</a:t>
                      </a:r>
                    </a:p>
                  </a:txBody>
                  <a:tcPr marL="54864" marR="36576" marT="32004" marB="22860"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91C20"/>
                          </a:solidFill>
                          <a:latin typeface="Noto Sans CJK JP"/>
                        </a:defRPr>
                      </a:pPr>
                      <a:r>
                        <a:t>different senses</a:t>
                      </a:r>
                    </a:p>
                  </a:txBody>
                  <a:tcPr marL="54864" marR="36576" marT="32004" marB="22860"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91C20"/>
                          </a:solidFill>
                          <a:latin typeface="Noto Sans CJK JP"/>
                        </a:defRPr>
                      </a:pPr>
                      <a:r>
                        <a:t>ordinary WSD</a:t>
                      </a:r>
                    </a:p>
                  </a:txBody>
                  <a:tcPr marL="54864" marR="36576" marT="32004" marB="22860" anchor="ctr"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360" y="5532120"/>
            <a:ext cx="3931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18B82"/>
                </a:solidFill>
                <a:latin typeface="Noto Sans CJK JP"/>
              </a:rPr>
              <a:t>先生の minimum baseline：最初の三種類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17720" y="5532120"/>
            <a:ext cx="3840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A6F97"/>
                </a:solidFill>
                <a:latin typeface="Noto Sans CJK JP"/>
              </a:rPr>
              <a:t>追加二種類：form sharing と ambiguity を分離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327648"/>
            <a:ext cx="78638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4707E"/>
                </a:solidFill>
                <a:latin typeface="Noto Sans CJK JP"/>
              </a:rPr>
              <a:t>Oi &amp; Saito 2009; Hsieh+ 2017; Tarin+ 2025/26 も language-specific controls を使用。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162E51"/>
          </a:solidFill>
          <a:ln>
            <a:solidFill>
              <a:srgbClr val="162E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8138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62E51"/>
                </a:solidFill>
                <a:latin typeface="Noto Sans CJK JP"/>
              </a:rPr>
              <a:t>Outcome-blind matching：旧 control の失敗を設計で修正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49640" y="6446520"/>
            <a:ext cx="274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4707E"/>
                </a:solidFill>
                <a:latin typeface="Noto Sans CJK JP"/>
              </a:rPr>
              <a:t>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143000"/>
            <a:ext cx="3611880" cy="4343400"/>
          </a:xfrm>
          <a:prstGeom prst="roundRect">
            <a:avLst/>
          </a:prstGeom>
          <a:solidFill>
            <a:srgbClr val="F0F4F8"/>
          </a:solidFill>
          <a:ln>
            <a:solidFill>
              <a:srgbClr val="F0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20116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B43D3D"/>
                </a:solidFill>
                <a:latin typeface="Noto Sans CJK JP"/>
              </a:rPr>
              <a:t>旧 pool：FAIL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938528"/>
            <a:ext cx="283464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162E51"/>
                </a:solidFill>
                <a:latin typeface="Noto Sans CJK JP"/>
              </a:rPr>
              <a:t>exact bilingual POS
+ every covariate ≤ 1 SD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944368"/>
            <a:ext cx="2286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B43D3D"/>
                </a:solidFill>
                <a:latin typeface="Noto Sans CJK JP"/>
              </a:rPr>
              <a:t>0 pairs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703320"/>
            <a:ext cx="2651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91C20"/>
                </a:solidFill>
                <a:latin typeface="Noto Sans CJK JP"/>
              </a:rPr>
              <a:t>→ causal claim に使わない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143000"/>
            <a:ext cx="425196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218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81728" y="1417320"/>
            <a:ext cx="28346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218B82"/>
                </a:solidFill>
                <a:latin typeface="Noto Sans CJK JP"/>
              </a:rPr>
              <a:t>新 target-first design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1901952"/>
            <a:ext cx="342900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defRPr sz="1700">
                <a:solidFill>
                  <a:srgbClr val="191C20"/>
                </a:solidFill>
                <a:latin typeface="Noto Sans CJK JP"/>
              </a:defRPr>
            </a:pPr>
            <a:r>
              <a:t>11,000 natural-context candidates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700">
                <a:solidFill>
                  <a:srgbClr val="191C20"/>
                </a:solidFill>
                <a:latin typeface="Noto Sans CJK JP"/>
              </a:defRPr>
            </a:pPr>
            <a:r>
              <a:t>24 / 27 false friends retained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700">
                <a:solidFill>
                  <a:srgbClr val="191C20"/>
                </a:solidFill>
                <a:latin typeface="Noto Sans CJK JP"/>
              </a:defRPr>
            </a:pPr>
            <a:r>
              <a:t>24 true + 24 translation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700">
                <a:solidFill>
                  <a:srgbClr val="191C20"/>
                </a:solidFill>
                <a:latin typeface="Noto Sans CJK JP"/>
              </a:defRPr>
            </a:pPr>
            <a:r>
              <a:t>max |SMD| = .087 / .097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700">
                <a:solidFill>
                  <a:srgbClr val="191C20"/>
                </a:solidFill>
                <a:latin typeface="Noto Sans CJK JP"/>
              </a:defRPr>
            </a:pPr>
            <a:r>
              <a:t>4× validation reservoir: 96/group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700">
                <a:solidFill>
                  <a:srgbClr val="191C20"/>
                </a:solidFill>
                <a:latin typeface="Noto Sans CJK JP"/>
              </a:defRPr>
            </a:pPr>
            <a:r>
              <a:t>Qwen3/Gemma outcomes 未読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81728" y="4800600"/>
            <a:ext cx="3429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4707E"/>
                </a:solidFill>
                <a:latin typeface="Noto Sans CJK JP"/>
              </a:rPr>
              <a:t>POS・frequency・ratio・length・tokenization・Qwen2.5 difficulty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327648"/>
            <a:ext cx="78638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4707E"/>
                </a:solidFill>
                <a:latin typeface="Noto Sans CJK JP"/>
              </a:rPr>
              <a:t>Joint cardinality matching。辞書 overlap は gold ではないため bilingual validation 前は candidate。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162E51"/>
          </a:solidFill>
          <a:ln>
            <a:solidFill>
              <a:srgbClr val="162E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8138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62E51"/>
                </a:solidFill>
                <a:latin typeface="Noto Sans CJK JP"/>
              </a:rPr>
              <a:t>追加した language-specific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49640" y="6446520"/>
            <a:ext cx="274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4707E"/>
                </a:solidFill>
                <a:latin typeface="Noto Sans CJK JP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463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218B82"/>
                </a:solidFill>
                <a:latin typeface="Noto Sans CJK JP"/>
              </a:rPr>
              <a:t>操作的定義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572768"/>
            <a:ext cx="7223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62E51"/>
                </a:solidFill>
                <a:latin typeface="Noto Sans CJK JP"/>
              </a:rPr>
              <a:t>NFKC exact form が相手言語辞書に存在しない二字語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286000"/>
            <a:ext cx="722376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defRPr sz="1800">
                <a:solidFill>
                  <a:srgbClr val="191C20"/>
                </a:solidFill>
                <a:latin typeface="Noto Sans CJK JP"/>
              </a:defRPr>
            </a:pPr>
            <a:r>
              <a:t>自然文 pool：ZH 7,943 / JA 7,923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800">
                <a:solidFill>
                  <a:srgbClr val="191C20"/>
                </a:solidFill>
                <a:latin typeface="Noto Sans CJK JP"/>
              </a:defRPr>
            </a:pPr>
            <a:r>
              <a:t>final：ZH 23 / JA 24，max |SMD|=.094/.097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800">
                <a:solidFill>
                  <a:srgbClr val="191C20"/>
                </a:solidFill>
                <a:latin typeface="Noto Sans CJK JP"/>
              </a:defRPr>
            </a:pPr>
            <a:r>
              <a:t>4× reservoir：ZH 92 / JA 96，max |SMD|&lt;.10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800">
                <a:solidFill>
                  <a:srgbClr val="191C20"/>
                </a:solidFill>
                <a:latin typeface="Noto Sans CJK JP"/>
              </a:defRPr>
            </a:pPr>
            <a:r>
              <a:t>frequency / length / Qwen3・Gemma token / gloss / Qwen2.5 difficulty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800">
                <a:solidFill>
                  <a:srgbClr val="191C20"/>
                </a:solidFill>
                <a:latin typeface="Noto Sans CJK JP"/>
              </a:defRPr>
            </a:pPr>
            <a:r>
              <a:t>辞書非掲載 ≠ 絶対不存在 → human validation 必須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4983480"/>
            <a:ext cx="7635240" cy="576072"/>
          </a:xfrm>
          <a:prstGeom prst="roundRect">
            <a:avLst/>
          </a:prstGeom>
          <a:solidFill>
            <a:srgbClr val="F0F4F8"/>
          </a:solidFill>
          <a:ln>
            <a:solidFill>
              <a:srgbClr val="B43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5157216"/>
            <a:ext cx="726948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B43D3D"/>
                </a:solidFill>
                <a:latin typeface="Noto Sans CJK JP"/>
              </a:rPr>
              <a:t>役割：cross-language LCE ではなく，通常の one-language context extraction / decision baseline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327648"/>
            <a:ext cx="78638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4707E"/>
                </a:solidFill>
                <a:latin typeface="Noto Sans CJK JP"/>
              </a:rPr>
              <a:t>この control を false-friend language effect と同じ estimand に無理に入れない。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162E51"/>
          </a:solidFill>
          <a:ln>
            <a:solidFill>
              <a:srgbClr val="162E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8138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62E51"/>
                </a:solidFill>
                <a:latin typeface="Noto Sans CJK JP"/>
              </a:rPr>
              <a:t>RQ3：B が paradox を発見し，A が条件付きで説明する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49640" y="6446520"/>
            <a:ext cx="274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4707E"/>
                </a:solidFill>
                <a:latin typeface="Noto Sans CJK JP"/>
              </a:rPr>
              <a:t>11</a:t>
            </a:r>
          </a:p>
        </p:txBody>
      </p:sp>
      <p:pic>
        <p:nvPicPr>
          <p:cNvPr id="5" name="Picture 4" descr="target_component_patch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24712"/>
            <a:ext cx="5120640" cy="3116911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650992" y="1143000"/>
            <a:ext cx="3017520" cy="4434840"/>
          </a:xfrm>
          <a:prstGeom prst="roundRect">
            <a:avLst/>
          </a:prstGeom>
          <a:solidFill>
            <a:srgbClr val="F0F4F8"/>
          </a:solidFill>
          <a:ln>
            <a:solidFill>
              <a:srgbClr val="F0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25312" y="1444752"/>
            <a:ext cx="2240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218B82"/>
                </a:solidFill>
                <a:latin typeface="Noto Sans CJK JP"/>
              </a:rPr>
              <a:t>現在の解釈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97880" y="1938528"/>
            <a:ext cx="23317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defRPr sz="1600">
                <a:solidFill>
                  <a:srgbClr val="191C20"/>
                </a:solidFill>
                <a:latin typeface="Noto Sans CJK JP"/>
              </a:defRPr>
            </a:pPr>
            <a:r>
              <a:t>semantic profile は ordinary WSD-like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600">
                <a:solidFill>
                  <a:srgbClr val="191C20"/>
                </a:solidFill>
                <a:latin typeface="Noto Sans CJK JP"/>
              </a:defRPr>
            </a:pPr>
            <a:r>
              <a:t>target residual で両 signal が causal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600">
                <a:solidFill>
                  <a:srgbClr val="191C20"/>
                </a:solidFill>
                <a:latin typeface="Noto Sans CJK JP"/>
              </a:defRPr>
            </a:pPr>
            <a:r>
              <a:t>MLP は主要 language signal を再現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600">
                <a:solidFill>
                  <a:srgbClr val="191C20"/>
                </a:solidFill>
                <a:latin typeface="Noto Sans CJK JP"/>
              </a:defRPr>
            </a:pPr>
            <a:r>
              <a:t>attention-only は不安定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25312" y="4315968"/>
            <a:ext cx="1554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B43D3D"/>
                </a:solidFill>
                <a:latin typeface="Noto Sans CJK JP"/>
              </a:rPr>
              <a:t>claim しない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25312" y="4681728"/>
            <a:ext cx="2240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91C20"/>
                </a:solidFill>
                <a:latin typeface="Noto Sans CJK JP"/>
              </a:rPr>
              <a:t>homograph circuit / neuron
人間脳との同一性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327648"/>
            <a:ext cx="78638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4707E"/>
                </a:solidFill>
                <a:latin typeface="Noto Sans CJK JP"/>
              </a:rPr>
              <a:t>Matched human-valid controls を通過した場合のみ collision-specific excess を報告。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162E51"/>
          </a:solidFill>
          <a:ln>
            <a:solidFill>
              <a:srgbClr val="162E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8138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62E51"/>
                </a:solidFill>
                <a:latin typeface="Noto Sans CJK JP"/>
              </a:rPr>
              <a:t>次週までの hard gates と判定規則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49640" y="6446520"/>
            <a:ext cx="274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4707E"/>
                </a:solidFill>
                <a:latin typeface="Noto Sans CJK JP"/>
              </a:rPr>
              <a:t>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051560"/>
            <a:ext cx="530352" cy="530352"/>
          </a:xfrm>
          <a:prstGeom prst="roundRect">
            <a:avLst/>
          </a:prstGeom>
          <a:solidFill>
            <a:srgbClr val="218B82"/>
          </a:solidFill>
          <a:ln>
            <a:solidFill>
              <a:srgbClr val="218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124712"/>
            <a:ext cx="53035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CJK JP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124712"/>
            <a:ext cx="62636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62E51"/>
                </a:solidFill>
                <a:latin typeface="Noto Sans CJK JP"/>
              </a:rPr>
              <a:t>Doppel 708 rows × 2 bilinguals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74519"/>
            <a:ext cx="530352" cy="530352"/>
          </a:xfrm>
          <a:prstGeom prst="roundRect">
            <a:avLst/>
          </a:prstGeom>
          <a:solidFill>
            <a:srgbClr val="218B82"/>
          </a:solidFill>
          <a:ln>
            <a:solidFill>
              <a:srgbClr val="218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947672"/>
            <a:ext cx="53035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CJK JP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947672"/>
            <a:ext cx="62636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62E51"/>
                </a:solidFill>
                <a:latin typeface="Noto Sans CJK JP"/>
              </a:rPr>
              <a:t>true/translation 192 × 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697480"/>
            <a:ext cx="530352" cy="530352"/>
          </a:xfrm>
          <a:prstGeom prst="roundRect">
            <a:avLst/>
          </a:prstGeom>
          <a:solidFill>
            <a:srgbClr val="218B82"/>
          </a:solidFill>
          <a:ln>
            <a:solidFill>
              <a:srgbClr val="218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770632"/>
            <a:ext cx="53035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CJK JP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770632"/>
            <a:ext cx="62636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62E51"/>
                </a:solidFill>
                <a:latin typeface="Noto Sans CJK JP"/>
              </a:rPr>
              <a:t>language-specific 188 × 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520440"/>
            <a:ext cx="530352" cy="530352"/>
          </a:xfrm>
          <a:prstGeom prst="roundRect">
            <a:avLst/>
          </a:prstGeom>
          <a:solidFill>
            <a:srgbClr val="218B82"/>
          </a:solidFill>
          <a:ln>
            <a:solidFill>
              <a:srgbClr val="218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593592"/>
            <a:ext cx="53035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CJK JP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3593592"/>
            <a:ext cx="62636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62E51"/>
                </a:solidFill>
                <a:latin typeface="Noto Sans CJK JP"/>
              </a:rPr>
              <a:t>human-valid set で再 matching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343400"/>
            <a:ext cx="530352" cy="530352"/>
          </a:xfrm>
          <a:prstGeom prst="roundRect">
            <a:avLst/>
          </a:prstGeom>
          <a:solidFill>
            <a:srgbClr val="218B82"/>
          </a:solidFill>
          <a:ln>
            <a:solidFill>
              <a:srgbClr val="218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416552"/>
            <a:ext cx="53035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CJK JP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4416552"/>
            <a:ext cx="62636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62E51"/>
                </a:solidFill>
                <a:latin typeface="Noto Sans CJK JP"/>
              </a:rPr>
              <a:t>≥20 FF, all |SMD|≤.10 のみ unlock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5321808"/>
            <a:ext cx="7726679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B43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" y="5431536"/>
            <a:ext cx="7360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B43D3D"/>
                </a:solidFill>
                <a:latin typeface="Noto Sans CJK JP"/>
              </a:rPr>
              <a:t>失敗時：collision-specific mechanism を削除。
B の behavioral decomposition は独立に評価。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6327648"/>
            <a:ext cx="78638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4707E"/>
                </a:solidFill>
                <a:latin typeface="Noto Sans CJK JP"/>
              </a:rPr>
              <a:t>Target outcomes を見て matching・除外基準を変更しない。SAE/neuron/mitigation は gate 後。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162E51"/>
          </a:solidFill>
          <a:ln>
            <a:solidFill>
              <a:srgbClr val="162E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8138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62E51"/>
                </a:solidFill>
                <a:latin typeface="Noto Sans CJK JP"/>
              </a:rPr>
              <a:t>今回，先生に確認したい点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49640" y="6446520"/>
            <a:ext cx="274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4707E"/>
                </a:solidFill>
                <a:latin typeface="Noto Sans CJK JP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61872"/>
            <a:ext cx="73609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191C20"/>
                </a:solidFill>
                <a:latin typeface="Noto Sans CJK JP"/>
              </a:defRPr>
            </a:pPr>
            <a:r>
              <a:t>Main RQ を「context extraction vs lexical arbitration の failure localization」としてよいか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191C20"/>
                </a:solidFill>
                <a:latin typeface="Noto Sans CJK JP"/>
              </a:defRPr>
            </a:pPr>
            <a:r>
              <a:t>B を主 contribution，matched causal A を条件付き第二 contribution としてよいか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191C20"/>
                </a:solidFill>
                <a:latin typeface="Noto Sans CJK JP"/>
              </a:defRPr>
            </a:pPr>
            <a:r>
              <a:t>language-specific を one-language extraction/decision baseline とする設計でよいか</a:t>
            </a:r>
          </a:p>
          <a:p>
            <a:pPr>
              <a:lnSpc>
                <a:spcPct val="105000"/>
              </a:lnSpc>
              <a:spcAft>
                <a:spcPts val="1400"/>
              </a:spcAft>
              <a:defRPr sz="2100">
                <a:solidFill>
                  <a:srgbClr val="191C20"/>
                </a:solidFill>
                <a:latin typeface="Noto Sans CJK JP"/>
              </a:defRPr>
            </a:pPr>
            <a:r>
              <a:t>中日 bilingual annotator 二名をどのように確保するか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4983480"/>
            <a:ext cx="7726679" cy="658368"/>
          </a:xfrm>
          <a:prstGeom prst="roundRect">
            <a:avLst/>
          </a:prstGeom>
          <a:solidFill>
            <a:srgbClr val="F0F4F8"/>
          </a:solidFill>
          <a:ln>
            <a:solidFill>
              <a:srgbClr val="218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5175504"/>
            <a:ext cx="7223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218B82"/>
                </a:solidFill>
                <a:latin typeface="Noto Sans CJK JP"/>
              </a:rPr>
              <a:t>示したいこと：モデルは文脈を理解していても，語彙的仲裁で負けて誤答し得る。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